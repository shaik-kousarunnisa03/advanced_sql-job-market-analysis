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2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E306D-E443-4574-AD8E-C132C7D775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BDB7F0-17B9-41D7-9EE8-4419A55C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519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BDB7F0-17B9-41D7-9EE8-4419A55CEB9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34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45290"/>
            <a:ext cx="7772400" cy="1470025"/>
          </a:xfrm>
        </p:spPr>
        <p:txBody>
          <a:bodyPr/>
          <a:lstStyle/>
          <a:p>
            <a:r>
              <a:rPr dirty="0"/>
              <a:t>SQL Project Presentation</a:t>
            </a:r>
          </a:p>
          <a:p>
            <a:r>
              <a:rPr dirty="0"/>
              <a:t>Job Market Dataset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Dataset Analysis using SQL Queries and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u="sng" dirty="0"/>
              <a:t>Objective:</a:t>
            </a:r>
            <a:r>
              <a:rPr dirty="0"/>
              <a:t> Analyze job market trends using SQL</a:t>
            </a:r>
          </a:p>
          <a:p>
            <a:r>
              <a:rPr u="sng" dirty="0"/>
              <a:t>Dataset</a:t>
            </a:r>
            <a:r>
              <a:rPr lang="en-US" u="sng" dirty="0"/>
              <a:t>:</a:t>
            </a:r>
            <a:r>
              <a:rPr dirty="0"/>
              <a:t> </a:t>
            </a:r>
            <a:r>
              <a:rPr lang="en-US" dirty="0"/>
              <a:t>Dataset </a:t>
            </a:r>
            <a:r>
              <a:rPr dirty="0"/>
              <a:t>contains job postings, companies, locations, salaries, and experience requirements</a:t>
            </a:r>
          </a:p>
          <a:p>
            <a:r>
              <a:rPr u="sng" dirty="0"/>
              <a:t>Total Records:</a:t>
            </a:r>
            <a:r>
              <a:rPr dirty="0"/>
              <a:t> 40</a:t>
            </a:r>
          </a:p>
          <a:p>
            <a:r>
              <a:rPr u="sng" dirty="0"/>
              <a:t>Total Columns:</a:t>
            </a:r>
            <a:r>
              <a:rPr dirty="0"/>
              <a:t>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06697" cy="1003556"/>
          </a:xfrm>
        </p:spPr>
        <p:txBody>
          <a:bodyPr/>
          <a:lstStyle/>
          <a:p>
            <a:r>
              <a:rPr b="1" i="1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8194"/>
            <a:ext cx="8229600" cy="4847969"/>
          </a:xfrm>
        </p:spPr>
        <p:txBody>
          <a:bodyPr>
            <a:normAutofit fontScale="92500" lnSpcReduction="20000"/>
          </a:bodyPr>
          <a:lstStyle/>
          <a:p>
            <a:r>
              <a:rPr dirty="0" err="1"/>
              <a:t>Job_ID</a:t>
            </a:r>
            <a:endParaRPr dirty="0"/>
          </a:p>
          <a:p>
            <a:r>
              <a:rPr dirty="0" err="1"/>
              <a:t>Job_Title</a:t>
            </a:r>
            <a:endParaRPr dirty="0"/>
          </a:p>
          <a:p>
            <a:r>
              <a:rPr dirty="0" err="1"/>
              <a:t>Job_Category</a:t>
            </a:r>
            <a:endParaRPr dirty="0"/>
          </a:p>
          <a:p>
            <a:r>
              <a:rPr dirty="0"/>
              <a:t>Location</a:t>
            </a:r>
          </a:p>
          <a:p>
            <a:r>
              <a:rPr dirty="0"/>
              <a:t>Year</a:t>
            </a:r>
          </a:p>
          <a:p>
            <a:r>
              <a:rPr dirty="0"/>
              <a:t>Company</a:t>
            </a:r>
          </a:p>
          <a:p>
            <a:r>
              <a:rPr dirty="0" err="1"/>
              <a:t>Experience_Required_Years</a:t>
            </a:r>
            <a:endParaRPr dirty="0"/>
          </a:p>
          <a:p>
            <a:r>
              <a:rPr dirty="0" err="1"/>
              <a:t>Salary_Min_LPA</a:t>
            </a:r>
            <a:endParaRPr dirty="0"/>
          </a:p>
          <a:p>
            <a:r>
              <a:rPr dirty="0" err="1"/>
              <a:t>Salary_Max_LPA</a:t>
            </a:r>
            <a:endParaRPr dirty="0"/>
          </a:p>
          <a:p>
            <a:r>
              <a:rPr lang="en-US" dirty="0" err="1"/>
              <a:t>Em</a:t>
            </a:r>
            <a:r>
              <a:rPr dirty="0" err="1"/>
              <a:t>ployment_Type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47703" cy="905233"/>
          </a:xfrm>
        </p:spPr>
        <p:txBody>
          <a:bodyPr/>
          <a:lstStyle/>
          <a:p>
            <a:r>
              <a:rPr b="1" i="1" dirty="0"/>
              <a:t>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1380"/>
            <a:ext cx="8229600" cy="51331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1. Jobs posted by each company each year</a:t>
            </a:r>
          </a:p>
          <a:p>
            <a:pPr marL="0" indent="0">
              <a:buNone/>
            </a:pPr>
            <a:r>
              <a:rPr dirty="0"/>
              <a:t>2. Average employment/experience by location</a:t>
            </a:r>
          </a:p>
          <a:p>
            <a:pPr marL="0" indent="0">
              <a:buNone/>
            </a:pPr>
            <a:r>
              <a:rPr dirty="0"/>
              <a:t>3. Top 3 companies by job postings</a:t>
            </a:r>
          </a:p>
          <a:p>
            <a:pPr marL="0" indent="0">
              <a:buNone/>
            </a:pPr>
            <a:r>
              <a:rPr dirty="0"/>
              <a:t>4. Categories available in more than 5 locations</a:t>
            </a:r>
          </a:p>
          <a:p>
            <a:pPr marL="0" indent="0">
              <a:buNone/>
            </a:pPr>
            <a:r>
              <a:rPr dirty="0"/>
              <a:t>5. Rank jobs by experience</a:t>
            </a:r>
          </a:p>
          <a:p>
            <a:pPr marL="0" indent="0">
              <a:buNone/>
            </a:pPr>
            <a:r>
              <a:rPr dirty="0"/>
              <a:t>6. Average experience by category</a:t>
            </a:r>
          </a:p>
          <a:p>
            <a:pPr marL="0" indent="0">
              <a:buNone/>
            </a:pPr>
            <a:r>
              <a:rPr dirty="0"/>
              <a:t>7. Second most common category</a:t>
            </a:r>
          </a:p>
          <a:p>
            <a:pPr marL="0" indent="0">
              <a:buNone/>
            </a:pPr>
            <a:r>
              <a:rPr dirty="0"/>
              <a:t>8. Company with maximum jobs in a year</a:t>
            </a:r>
          </a:p>
          <a:p>
            <a:pPr marL="0" indent="0">
              <a:buNone/>
            </a:pPr>
            <a:r>
              <a:rPr dirty="0"/>
              <a:t>9. Locations with &gt;10 jobs</a:t>
            </a:r>
          </a:p>
          <a:p>
            <a:pPr marL="0" indent="0">
              <a:buNone/>
            </a:pPr>
            <a:r>
              <a:rPr dirty="0"/>
              <a:t>10. Latest posting year for each company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78877" cy="883602"/>
          </a:xfrm>
        </p:spPr>
        <p:txBody>
          <a:bodyPr>
            <a:normAutofit/>
          </a:bodyPr>
          <a:lstStyle/>
          <a:p>
            <a:r>
              <a:rPr b="1" i="1" dirty="0"/>
              <a:t>SQL Query 1–3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3584"/>
            <a:ext cx="8229600" cy="5106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</a:t>
            </a:r>
            <a:r>
              <a:rPr sz="2400" b="1" dirty="0"/>
              <a:t>Counted jobs by company and year</a:t>
            </a:r>
            <a:r>
              <a:rPr lang="en-US" sz="2400" b="1" dirty="0"/>
              <a:t>:</a:t>
            </a:r>
          </a:p>
          <a:p>
            <a:r>
              <a:rPr lang="en-US" sz="2000" u="sng" dirty="0"/>
              <a:t>Insight:</a:t>
            </a:r>
            <a:r>
              <a:rPr lang="en-US" sz="2000" dirty="0"/>
              <a:t> </a:t>
            </a:r>
            <a:r>
              <a:rPr lang="en-IN" sz="2000" dirty="0"/>
              <a:t>Identifies hiring trends of each company across different years</a:t>
            </a:r>
          </a:p>
          <a:p>
            <a:r>
              <a:rPr lang="en-US" sz="2000" u="sng" dirty="0"/>
              <a:t>Recommendation:</a:t>
            </a:r>
            <a:r>
              <a:rPr lang="en-US" sz="2000" dirty="0"/>
              <a:t> </a:t>
            </a:r>
            <a:r>
              <a:rPr lang="en-IN" sz="2000" dirty="0"/>
              <a:t>Focus recruitment strategies on years showing the highest hiring activity</a:t>
            </a:r>
            <a:endParaRPr sz="2000" dirty="0"/>
          </a:p>
          <a:p>
            <a:pPr marL="0" indent="0">
              <a:buNone/>
            </a:pPr>
            <a:r>
              <a:rPr lang="en-US" sz="2400" b="1" dirty="0"/>
              <a:t>2. </a:t>
            </a:r>
            <a:r>
              <a:rPr sz="2400" b="1" dirty="0"/>
              <a:t>Calculated average experience by location</a:t>
            </a:r>
            <a:r>
              <a:rPr lang="en-US" sz="2400" b="1" dirty="0"/>
              <a:t>:</a:t>
            </a:r>
          </a:p>
          <a:p>
            <a:r>
              <a:rPr lang="en-IN" sz="2000" u="sng" dirty="0"/>
              <a:t>Insight:</a:t>
            </a:r>
            <a:r>
              <a:rPr lang="en-IN" sz="2000" dirty="0"/>
              <a:t> Shows which locations offer higher average employment opportunities</a:t>
            </a:r>
          </a:p>
          <a:p>
            <a:r>
              <a:rPr lang="en-IN" sz="2000" u="sng" dirty="0"/>
              <a:t>Recommendation:</a:t>
            </a:r>
            <a:r>
              <a:rPr lang="en-IN" sz="2000" dirty="0"/>
              <a:t> Prioritize expansion and talent acquisition in locations with higher average employment</a:t>
            </a:r>
          </a:p>
          <a:p>
            <a:pPr marL="0" indent="0">
              <a:buNone/>
            </a:pPr>
            <a:r>
              <a:rPr lang="en-US" sz="2400" b="1" dirty="0"/>
              <a:t>3. </a:t>
            </a:r>
            <a:r>
              <a:rPr sz="2400" b="1" dirty="0"/>
              <a:t>Identified Top 3 companies with highest job postings</a:t>
            </a:r>
            <a:r>
              <a:rPr lang="en-US" sz="2400" b="1" dirty="0"/>
              <a:t>:</a:t>
            </a:r>
          </a:p>
          <a:p>
            <a:r>
              <a:rPr lang="en-IN" sz="2000" u="sng" dirty="0"/>
              <a:t>Insight:</a:t>
            </a:r>
            <a:r>
              <a:rPr lang="en-IN" sz="2000" dirty="0"/>
              <a:t> Reveals the most active recruiters in the job market</a:t>
            </a:r>
          </a:p>
          <a:p>
            <a:r>
              <a:rPr lang="en-IN" sz="2000" u="sng" dirty="0"/>
              <a:t>Recommendation:</a:t>
            </a:r>
            <a:r>
              <a:rPr lang="en-IN" sz="2000" dirty="0"/>
              <a:t> Benchmark hiring practices against the most active recruiting companies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28432" cy="834834"/>
          </a:xfrm>
        </p:spPr>
        <p:txBody>
          <a:bodyPr/>
          <a:lstStyle/>
          <a:p>
            <a:r>
              <a:rPr b="1" i="1" dirty="0"/>
              <a:t>SQL Query 4–6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928" y="1219201"/>
            <a:ext cx="8229600" cy="5364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4. </a:t>
            </a:r>
            <a:r>
              <a:rPr sz="2400" b="1" dirty="0"/>
              <a:t>Found categories available across multiple locations</a:t>
            </a:r>
            <a:r>
              <a:rPr lang="en-US" sz="2400" b="1" dirty="0"/>
              <a:t>:</a:t>
            </a:r>
          </a:p>
          <a:p>
            <a:r>
              <a:rPr lang="en-IN" sz="2000" u="sng" dirty="0"/>
              <a:t>Insight:</a:t>
            </a:r>
            <a:r>
              <a:rPr lang="en-IN" sz="2000" dirty="0"/>
              <a:t> Highlights job roles with widespread geographic demand</a:t>
            </a:r>
          </a:p>
          <a:p>
            <a:r>
              <a:rPr lang="en-IN" sz="2000" dirty="0"/>
              <a:t>Recommendation: Invest in widely available job categories to meet broad market demand</a:t>
            </a:r>
          </a:p>
          <a:p>
            <a:pPr marL="0" indent="0">
              <a:buNone/>
            </a:pPr>
            <a:r>
              <a:rPr lang="en-US" sz="2400" b="1" dirty="0"/>
              <a:t>5. </a:t>
            </a:r>
            <a:r>
              <a:rPr sz="2400" b="1" dirty="0"/>
              <a:t>Ranked jobs based on experience required</a:t>
            </a:r>
            <a:r>
              <a:rPr lang="en-US" sz="2400" b="1" dirty="0"/>
              <a:t>:</a:t>
            </a:r>
          </a:p>
          <a:p>
            <a:r>
              <a:rPr lang="en-IN" sz="2000" u="sng" dirty="0"/>
              <a:t>Insight:</a:t>
            </a:r>
            <a:r>
              <a:rPr lang="en-IN" sz="2000" dirty="0"/>
              <a:t> Helps compare jobs by experience level within the same location</a:t>
            </a:r>
          </a:p>
          <a:p>
            <a:r>
              <a:rPr lang="en-IN" sz="2000" u="sng" dirty="0"/>
              <a:t>Recommendation:</a:t>
            </a:r>
            <a:r>
              <a:rPr lang="en-IN" sz="2000" dirty="0"/>
              <a:t> Create targeted hiring plans for entry-level and experienced candidates separately</a:t>
            </a:r>
            <a:endParaRPr sz="2000" dirty="0"/>
          </a:p>
          <a:p>
            <a:pPr marL="0" indent="0">
              <a:buNone/>
            </a:pPr>
            <a:r>
              <a:rPr lang="en-US" sz="2400" b="1" dirty="0"/>
              <a:t>6. </a:t>
            </a:r>
            <a:r>
              <a:rPr sz="2400" b="1" dirty="0"/>
              <a:t>Calculated average experience for each job category</a:t>
            </a:r>
            <a:r>
              <a:rPr lang="en-US" sz="2400" b="1" dirty="0"/>
              <a:t>:</a:t>
            </a:r>
            <a:endParaRPr sz="2400" b="1" dirty="0"/>
          </a:p>
          <a:p>
            <a:r>
              <a:rPr lang="en-US" sz="2000" u="sng" dirty="0"/>
              <a:t>Insight:</a:t>
            </a:r>
            <a:r>
              <a:rPr lang="en-US" sz="2000" dirty="0"/>
              <a:t> </a:t>
            </a:r>
            <a:r>
              <a:rPr lang="en-IN" sz="2000" dirty="0"/>
              <a:t>Indicates the typical experience expectation for different job roles</a:t>
            </a:r>
          </a:p>
          <a:p>
            <a:r>
              <a:rPr lang="en-IN" sz="2000" u="sng" dirty="0"/>
              <a:t>Recommendation:</a:t>
            </a:r>
            <a:r>
              <a:rPr lang="en-IN" sz="2000" dirty="0"/>
              <a:t> Align training and recruitment programs with category-specific experience requirements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8530"/>
          </a:xfrm>
        </p:spPr>
        <p:txBody>
          <a:bodyPr>
            <a:normAutofit fontScale="90000"/>
          </a:bodyPr>
          <a:lstStyle/>
          <a:p>
            <a:r>
              <a:rPr b="1" i="1" dirty="0"/>
              <a:t>SQL Query 7–10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0704"/>
            <a:ext cx="8229600" cy="506545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/>
              <a:t>7. </a:t>
            </a:r>
            <a:r>
              <a:rPr sz="3400" b="1" dirty="0"/>
              <a:t>Found second most common job category</a:t>
            </a:r>
            <a:r>
              <a:rPr lang="en-US" sz="3400" b="1" dirty="0"/>
              <a:t>:</a:t>
            </a:r>
            <a:endParaRPr sz="3400" b="1" dirty="0"/>
          </a:p>
          <a:p>
            <a:r>
              <a:rPr sz="2900" u="sng" dirty="0"/>
              <a:t>Insight:</a:t>
            </a:r>
            <a:r>
              <a:rPr sz="2900" dirty="0"/>
              <a:t> Shows the next most in-demand role after the top category</a:t>
            </a:r>
            <a:endParaRPr lang="en-US" sz="2900" dirty="0"/>
          </a:p>
          <a:p>
            <a:r>
              <a:rPr lang="en-IN" sz="2900" u="sng" dirty="0"/>
              <a:t>Recommendation:</a:t>
            </a:r>
            <a:r>
              <a:rPr lang="en-IN" sz="2900" dirty="0"/>
              <a:t> Explore growth opportunities in the second-highest demand job category</a:t>
            </a:r>
            <a:endParaRPr sz="2900" dirty="0"/>
          </a:p>
          <a:p>
            <a:pPr marL="0" indent="0">
              <a:buNone/>
            </a:pPr>
            <a:r>
              <a:rPr lang="en-IN" sz="3400" b="1" dirty="0"/>
              <a:t>8. </a:t>
            </a:r>
            <a:r>
              <a:rPr sz="3400" b="1" dirty="0"/>
              <a:t>Identified company with maximum jobs in a year</a:t>
            </a:r>
            <a:r>
              <a:rPr lang="en-US" sz="3400" b="1" dirty="0"/>
              <a:t>:</a:t>
            </a:r>
            <a:endParaRPr sz="3400" b="1" dirty="0"/>
          </a:p>
          <a:p>
            <a:r>
              <a:rPr sz="2900" u="sng" dirty="0"/>
              <a:t>Insight:</a:t>
            </a:r>
            <a:r>
              <a:rPr sz="2900" dirty="0"/>
              <a:t> Indicates the most active recruiter during that year</a:t>
            </a:r>
            <a:endParaRPr lang="en-US" sz="2900" dirty="0"/>
          </a:p>
          <a:p>
            <a:r>
              <a:rPr lang="en-IN" sz="2900" u="sng" dirty="0"/>
              <a:t>Recommendation:</a:t>
            </a:r>
            <a:r>
              <a:rPr lang="en-IN" sz="2900" dirty="0"/>
              <a:t> </a:t>
            </a:r>
            <a:r>
              <a:rPr lang="en-IN" sz="2900" dirty="0" err="1"/>
              <a:t>Analyze</a:t>
            </a:r>
            <a:r>
              <a:rPr lang="en-IN" sz="2900" dirty="0"/>
              <a:t> the leading company's hiring strategy to identify market trends</a:t>
            </a:r>
            <a:endParaRPr sz="2900" dirty="0"/>
          </a:p>
          <a:p>
            <a:pPr marL="0" indent="0">
              <a:buNone/>
            </a:pPr>
            <a:r>
              <a:rPr lang="en-IN" sz="3400" b="1" dirty="0"/>
              <a:t>9. </a:t>
            </a:r>
            <a:r>
              <a:rPr sz="3400" b="1" dirty="0"/>
              <a:t>Checked locations with more than 10 jobs</a:t>
            </a:r>
            <a:r>
              <a:rPr lang="en-US" sz="3400" b="1" dirty="0"/>
              <a:t>:</a:t>
            </a:r>
            <a:endParaRPr sz="3400" b="1" dirty="0"/>
          </a:p>
          <a:p>
            <a:r>
              <a:rPr sz="2900" u="sng" dirty="0"/>
              <a:t>Insight:</a:t>
            </a:r>
            <a:r>
              <a:rPr sz="2900" dirty="0"/>
              <a:t> Highlights major hiring hubs with high job opportunities</a:t>
            </a:r>
            <a:endParaRPr lang="en-US" sz="2900" dirty="0"/>
          </a:p>
          <a:p>
            <a:r>
              <a:rPr lang="en-IN" sz="2900" u="sng" dirty="0"/>
              <a:t>Recommendation:</a:t>
            </a:r>
            <a:r>
              <a:rPr lang="en-IN" sz="2900" dirty="0"/>
              <a:t> → Strengthen recruitment efforts in high-demand locations to attract top talent</a:t>
            </a:r>
            <a:endParaRPr sz="2900" dirty="0"/>
          </a:p>
          <a:p>
            <a:pPr marL="0" indent="0">
              <a:buNone/>
            </a:pPr>
            <a:r>
              <a:rPr lang="en-US" sz="3400" b="1" dirty="0"/>
              <a:t>10. </a:t>
            </a:r>
            <a:r>
              <a:rPr sz="3400" b="1" dirty="0"/>
              <a:t>Found latest posting year for each company</a:t>
            </a:r>
            <a:r>
              <a:rPr lang="en-US" sz="3400" b="1" dirty="0"/>
              <a:t>:</a:t>
            </a:r>
            <a:endParaRPr sz="3400" b="1" dirty="0"/>
          </a:p>
          <a:p>
            <a:r>
              <a:rPr sz="2900" u="sng" dirty="0"/>
              <a:t>Insight:</a:t>
            </a:r>
            <a:r>
              <a:rPr sz="2900" dirty="0"/>
              <a:t> Helps identify companies with recent hiring activity</a:t>
            </a:r>
            <a:endParaRPr lang="en-US" sz="2900" dirty="0"/>
          </a:p>
          <a:p>
            <a:r>
              <a:rPr lang="en-IN" sz="2900" u="sng" dirty="0"/>
              <a:t>Recommendation:</a:t>
            </a:r>
            <a:r>
              <a:rPr lang="en-IN" sz="2900" dirty="0"/>
              <a:t> Monitor recently active companies for potential partnerships and hiring opportunities</a:t>
            </a:r>
            <a:endParaRPr sz="2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Tech companies dominate hiring</a:t>
            </a:r>
          </a:p>
          <a:p>
            <a:pPr marL="0" indent="0">
              <a:buNone/>
            </a:pPr>
            <a:r>
              <a:rPr dirty="0"/>
              <a:t>• Data Analyst, Data Scientist and ML roles are highly demanded</a:t>
            </a:r>
          </a:p>
          <a:p>
            <a:pPr marL="0" indent="0">
              <a:buNone/>
            </a:pPr>
            <a:r>
              <a:rPr dirty="0"/>
              <a:t>• Experience requirements vary by location</a:t>
            </a:r>
          </a:p>
          <a:p>
            <a:pPr marL="0" indent="0">
              <a:buNone/>
            </a:pPr>
            <a:r>
              <a:rPr dirty="0"/>
              <a:t>• Salary ranges increase with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AI/ML jobs offer higher salaries</a:t>
            </a:r>
          </a:p>
          <a:p>
            <a:pPr marL="0" indent="0">
              <a:buNone/>
            </a:pPr>
            <a:r>
              <a:rPr dirty="0"/>
              <a:t>2. Large companies create more opportunities</a:t>
            </a:r>
          </a:p>
          <a:p>
            <a:pPr marL="0" indent="0">
              <a:buNone/>
            </a:pPr>
            <a:r>
              <a:rPr dirty="0"/>
              <a:t>3. Some locations have concentrated hiring demand</a:t>
            </a:r>
          </a:p>
          <a:p>
            <a:pPr marL="0" indent="0">
              <a:buNone/>
            </a:pPr>
            <a:r>
              <a:rPr dirty="0"/>
              <a:t>4. Experience is a key factor in job availability</a:t>
            </a:r>
          </a:p>
          <a:p>
            <a:pPr marL="0" indent="0">
              <a:buNone/>
            </a:pPr>
            <a:r>
              <a:rPr dirty="0"/>
              <a:t>5. Data-related careers continue growing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5794"/>
          </a:xfrm>
        </p:spPr>
        <p:txBody>
          <a:bodyPr>
            <a:normAutofit fontScale="90000"/>
          </a:bodyPr>
          <a:lstStyle/>
          <a:p>
            <a:r>
              <a:rPr lang="en-US" sz="3600" b="1" i="1" dirty="0"/>
              <a:t>Insights &amp; </a:t>
            </a:r>
            <a:r>
              <a:rPr sz="3600" b="1" i="1" dirty="0"/>
              <a:t>Recommendations</a:t>
            </a:r>
            <a:r>
              <a:rPr lang="en-US" sz="3600" b="1" i="1" dirty="0"/>
              <a:t> of the Project</a:t>
            </a:r>
            <a:endParaRPr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432"/>
            <a:ext cx="8229600" cy="49557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Insights:</a:t>
            </a:r>
          </a:p>
          <a:p>
            <a:r>
              <a:rPr lang="en-IN" sz="2600" dirty="0"/>
              <a:t>A few companies dominate the job market</a:t>
            </a:r>
          </a:p>
          <a:p>
            <a:r>
              <a:rPr lang="en-IN" sz="2600" dirty="0"/>
              <a:t>Certain locations act as major hiring hubs</a:t>
            </a:r>
          </a:p>
          <a:p>
            <a:r>
              <a:rPr lang="en-IN" sz="2600" dirty="0"/>
              <a:t>Some job categories have widespread demand</a:t>
            </a:r>
          </a:p>
          <a:p>
            <a:r>
              <a:rPr lang="en-IN" sz="2600" dirty="0"/>
              <a:t>Experience requirements vary significantly by role and location</a:t>
            </a:r>
            <a:endParaRPr lang="en-US" sz="2600" dirty="0"/>
          </a:p>
          <a:p>
            <a:pPr marL="0" indent="0">
              <a:buNone/>
            </a:pPr>
            <a:r>
              <a:rPr lang="en-US" b="1" dirty="0"/>
              <a:t>Recommendation:</a:t>
            </a:r>
          </a:p>
          <a:p>
            <a:r>
              <a:rPr sz="2600" dirty="0"/>
              <a:t>Focus skill development on Data &amp; AI domains</a:t>
            </a:r>
          </a:p>
          <a:p>
            <a:r>
              <a:rPr sz="2600" dirty="0"/>
              <a:t>Target companies with frequent hiring</a:t>
            </a:r>
          </a:p>
          <a:p>
            <a:r>
              <a:rPr sz="2600" dirty="0"/>
              <a:t>Gain practical experience through projects</a:t>
            </a:r>
          </a:p>
          <a:p>
            <a:r>
              <a:rPr sz="2600" dirty="0"/>
              <a:t>Monitor location-wise job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</a:t>
            </a:r>
            <a:r>
              <a:rPr dirty="0"/>
              <a:t>The SQL project successfully analyzed</a:t>
            </a:r>
            <a:endParaRPr lang="en-US" dirty="0"/>
          </a:p>
          <a:p>
            <a:pPr marL="0" indent="0">
              <a:buNone/>
            </a:pPr>
            <a:r>
              <a:rPr dirty="0"/>
              <a:t>job market data using aggregation, ranking,</a:t>
            </a:r>
            <a:endParaRPr lang="en-US" dirty="0"/>
          </a:p>
          <a:p>
            <a:pPr marL="0" indent="0">
              <a:buNone/>
            </a:pPr>
            <a:r>
              <a:rPr dirty="0"/>
              <a:t>grouping, and filtering queries. The analysis</a:t>
            </a:r>
            <a:endParaRPr lang="en-US" dirty="0"/>
          </a:p>
          <a:p>
            <a:pPr marL="0" indent="0">
              <a:buNone/>
            </a:pPr>
            <a:r>
              <a:rPr dirty="0"/>
              <a:t>provided useful insights into hiring trends,</a:t>
            </a:r>
            <a:endParaRPr lang="en-US" dirty="0"/>
          </a:p>
          <a:p>
            <a:pPr marL="0" indent="0">
              <a:buNone/>
            </a:pPr>
            <a:r>
              <a:rPr dirty="0"/>
              <a:t>experience requirements, and company</a:t>
            </a:r>
            <a:endParaRPr lang="en-US" dirty="0"/>
          </a:p>
          <a:p>
            <a:pPr marL="0" indent="0">
              <a:buNone/>
            </a:pPr>
            <a:r>
              <a:rPr dirty="0"/>
              <a:t>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46967"/>
            <a:ext cx="7772400" cy="1470025"/>
          </a:xfrm>
        </p:spPr>
        <p:txBody>
          <a:bodyPr/>
          <a:lstStyle/>
          <a:p>
            <a:r>
              <a:rPr b="1" i="1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Thank You for Your Attention</a:t>
            </a:r>
          </a:p>
          <a:p>
            <a:endParaRPr dirty="0"/>
          </a:p>
          <a:p>
            <a:r>
              <a:rPr dirty="0"/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673</Words>
  <Application>Microsoft Office PowerPoint</Application>
  <PresentationFormat>On-screen Show (4:3)</PresentationFormat>
  <Paragraphs>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SQL Project Presentation Job Market Dataset Analysis</vt:lpstr>
      <vt:lpstr>Project Overview</vt:lpstr>
      <vt:lpstr>Dataset Description</vt:lpstr>
      <vt:lpstr>Business Questions</vt:lpstr>
      <vt:lpstr>SQL Query 1–3 Results</vt:lpstr>
      <vt:lpstr>SQL Query 4–6 Results</vt:lpstr>
      <vt:lpstr>SQL Query 7–10 Results</vt:lpstr>
      <vt:lpstr>Key Findings</vt:lpstr>
      <vt:lpstr>Business Insights</vt:lpstr>
      <vt:lpstr>Insights &amp; Recommendations of the Project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shaik kousar</cp:lastModifiedBy>
  <cp:revision>2</cp:revision>
  <dcterms:created xsi:type="dcterms:W3CDTF">2013-01-27T09:14:16Z</dcterms:created>
  <dcterms:modified xsi:type="dcterms:W3CDTF">2026-06-15T05:18:28Z</dcterms:modified>
  <cp:category/>
</cp:coreProperties>
</file>